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Inter Light"/>
      <p:regular r:id="rId16"/>
      <p:bold r:id="rId17"/>
      <p:italic r:id="rId18"/>
      <p:boldItalic r:id="rId19"/>
    </p:embeddedFont>
    <p:embeddedFont>
      <p:font typeface="Inter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Inter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Light-bold.fntdata"/><Relationship Id="rId16" Type="http://schemas.openxmlformats.org/officeDocument/2006/relationships/font" Target="fonts/InterLight-regular.fntdata"/><Relationship Id="rId5" Type="http://schemas.openxmlformats.org/officeDocument/2006/relationships/slide" Target="slides/slide1.xml"/><Relationship Id="rId19" Type="http://schemas.openxmlformats.org/officeDocument/2006/relationships/font" Target="fonts/InterLight-boldItalic.fntdata"/><Relationship Id="rId6" Type="http://schemas.openxmlformats.org/officeDocument/2006/relationships/slide" Target="slides/slide2.xml"/><Relationship Id="rId18" Type="http://schemas.openxmlformats.org/officeDocument/2006/relationships/font" Target="fonts/InterLigh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" name="Google Shape;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42" y="376907"/>
            <a:ext cx="4430241" cy="438968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/>
          <p:nvPr/>
        </p:nvSpPr>
        <p:spPr>
          <a:xfrm>
            <a:off x="5068119" y="1324273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AuditLens AI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5068119" y="1979861"/>
            <a:ext cx="3579763" cy="1839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Clinical Claim Validation Workbench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Evidence-grounded GenAI for payment integrity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3000"/>
              </a:spcBef>
              <a:spcAft>
                <a:spcPts val="0"/>
              </a:spcAft>
              <a:buClr>
                <a:srgbClr val="4950B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By Sanika Jadhav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496119" y="607368"/>
            <a:ext cx="1441400" cy="266402"/>
          </a:xfrm>
          <a:prstGeom prst="roundRect">
            <a:avLst>
              <a:gd fmla="val 17880" name="adj"/>
            </a:avLst>
          </a:prstGeom>
          <a:solidFill>
            <a:srgbClr val="DAD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581174" y="649858"/>
            <a:ext cx="1728490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PART A · AUDITLENS AI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496119" y="930473"/>
            <a:ext cx="7651552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Problem and What AuditLens AI Does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496119" y="1727820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Gap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496119" y="2091035"/>
            <a:ext cx="3902943" cy="1736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Every billed line must be clinically supported before payment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Generic LLM summaries lack defensible, cited findings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Evidence buried in unstructured notes, PDFs, and scans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Manual review is slow; unsupported billing creates payment exposure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4749701" y="1727820"/>
            <a:ext cx="227803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AuditLens AI Verifies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4749701" y="2091035"/>
            <a:ext cx="3902943" cy="1509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Did the service happen? Is there documentation support?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Diagnosis and medical necessity support?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Duplicate, bundled, excessive-unit, or upcoding issues?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Dollars at risk and recommended reviewer action?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4749701" y="3728145"/>
            <a:ext cx="390294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Outputs: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Line-level status · Cited evidence · Confidence score · Documentation gaps · Risk score · Potential savings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496119" y="473199"/>
            <a:ext cx="1261542" cy="223317"/>
          </a:xfrm>
          <a:prstGeom prst="roundRect">
            <a:avLst>
              <a:gd fmla="val 18664" name="adj"/>
            </a:avLst>
          </a:prstGeom>
          <a:solidFill>
            <a:srgbClr val="DAD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570533" y="510406"/>
            <a:ext cx="1569913" cy="148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PART A · AUDITLENS AI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496119" y="739899"/>
            <a:ext cx="3739604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End-to-End Workflow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496119" y="1290191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 Light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496119" y="1486644"/>
            <a:ext cx="2644899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496119" y="1577206"/>
            <a:ext cx="211447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Upload Bill &amp; Clinical Record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496119" y="1836167"/>
            <a:ext cx="2644899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Bill and clinical record uploaded by reviewer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3249513" y="1290191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 Light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3249513" y="1486644"/>
            <a:ext cx="2644899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3249513" y="1577206"/>
            <a:ext cx="243750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Extract Bill Lines &amp; Clinical Facts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3249513" y="1836167"/>
            <a:ext cx="2644899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System parses bill and extracts clinical facts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6002908" y="1290191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 Light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6002908" y="1486644"/>
            <a:ext cx="2644899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6002908" y="1577206"/>
            <a:ext cx="2644899" cy="387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Retrieve Relevant Record Passages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6002908" y="2030016"/>
            <a:ext cx="264489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Relevant passages retrieved from clinical record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96119" y="2603599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 Light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496119" y="2800052"/>
            <a:ext cx="2644899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496119" y="2890614"/>
            <a:ext cx="1678484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Verify Each Billed 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96119" y="3149575"/>
            <a:ext cx="2644899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Each billed line verified against evidence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3249513" y="2603599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 Light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3249513" y="2800052"/>
            <a:ext cx="2644899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3249513" y="2890614"/>
            <a:ext cx="21647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Run Deterministic Guardrails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3249513" y="3149575"/>
            <a:ext cx="2644899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Billing rules run as guardrails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6002908" y="2603599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 Light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6002908" y="2800052"/>
            <a:ext cx="2644899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6002908" y="2890614"/>
            <a:ext cx="2637234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Generate Aggregated Claim 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002908" y="3149575"/>
            <a:ext cx="2644899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Consolidated claim report generated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96119" y="3537124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 Light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96119" y="3733577"/>
            <a:ext cx="8151688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496119" y="3824139"/>
            <a:ext cx="1714574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Reviewer Takes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96119" y="4083100"/>
            <a:ext cx="8151688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Reviewer reviews evidence and decides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96119" y="4484191"/>
            <a:ext cx="8608963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Supported bill formats:</a:t>
            </a:r>
            <a:r>
              <a:rPr b="0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JSON, CSV, XLSX, PDF, PNG, JPG, TIF, TIFF  |  </a:t>
            </a:r>
            <a:r>
              <a:rPr b="1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Supported clinical record formats:</a:t>
            </a:r>
            <a:r>
              <a:rPr b="0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TXT, PDF, PNG, JPG, TIF, TIFF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>
            <a:off x="496119" y="418654"/>
            <a:ext cx="1441400" cy="266402"/>
          </a:xfrm>
          <a:prstGeom prst="roundRect">
            <a:avLst>
              <a:gd fmla="val 17880" name="adj"/>
            </a:avLst>
          </a:prstGeom>
          <a:solidFill>
            <a:srgbClr val="DAD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581174" y="461144"/>
            <a:ext cx="1728490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PART A · AUDITLENS AI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496119" y="741759"/>
            <a:ext cx="6578798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Architecture &amp; Controlled AI Design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874416"/>
            <a:ext cx="2373362" cy="23733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8"/>
          <p:cNvSpPr/>
          <p:nvPr/>
        </p:nvSpPr>
        <p:spPr>
          <a:xfrm>
            <a:off x="3220120" y="1539106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3220120" y="1902321"/>
            <a:ext cx="5432450" cy="10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React/Vite reviewer workbench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FastAPI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GenAI: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OpenRouter-compatible bounded verification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Storage: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SQLite for uploaded and reviewed artifacts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3220120" y="3100015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Design Principle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3220120" y="3463230"/>
            <a:ext cx="5432450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model answers one narrow question per billed line: </a:t>
            </a:r>
            <a:r>
              <a:rPr b="0" i="1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"Does this retrieved evidence support this specific service?"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It returns yes/no/uncertain, a confidence score, a reason, a citation, and the source passage. Deterministic rules run afterward. Bounded design reduces hallucination risk and keeps output auditable.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/>
          <p:nvPr/>
        </p:nvSpPr>
        <p:spPr>
          <a:xfrm>
            <a:off x="496119" y="395213"/>
            <a:ext cx="1036216" cy="173013"/>
          </a:xfrm>
          <a:prstGeom prst="roundRect">
            <a:avLst>
              <a:gd fmla="val 19789" name="adj"/>
            </a:avLst>
          </a:prstGeom>
          <a:solidFill>
            <a:srgbClr val="DAD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/>
          <p:nvPr/>
        </p:nvSpPr>
        <p:spPr>
          <a:xfrm>
            <a:off x="557213" y="425723"/>
            <a:ext cx="1371228" cy="11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PART A · AUDITLENS AI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496119" y="597471"/>
            <a:ext cx="6013698" cy="318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Reviewer Workbench &amp; Documentation Gaps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108025"/>
            <a:ext cx="2859509" cy="335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9"/>
          <p:cNvSpPr/>
          <p:nvPr/>
        </p:nvSpPr>
        <p:spPr>
          <a:xfrm>
            <a:off x="496119" y="4542309"/>
            <a:ext cx="3316709" cy="140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3608933" y="2010147"/>
            <a:ext cx="1752377" cy="159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Workbench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3608933" y="2242617"/>
            <a:ext cx="5043636" cy="80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2560" lvl="0" marL="1625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Claim intake and bill extraction preview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Live analysis progress and claim overview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Billed lines table with line-level evidence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Documentation gaps and extracted evidence 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Floating record chat and reviewer action buttons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3608933" y="3118470"/>
            <a:ext cx="1734741" cy="159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Every Gap Explained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3608933" y="3350940"/>
            <a:ext cx="5043636" cy="420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For each problematic service: service name, CPT/HCPCS code, required documentation, what's present, gap type, and amount at risk. Every finding tied to a retrieved clinical passage  reviewer can audit the model's reasoning.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/>
          <p:nvPr/>
        </p:nvSpPr>
        <p:spPr>
          <a:xfrm>
            <a:off x="496119" y="958304"/>
            <a:ext cx="1441400" cy="266402"/>
          </a:xfrm>
          <a:prstGeom prst="roundRect">
            <a:avLst>
              <a:gd fmla="val 17880" name="adj"/>
            </a:avLst>
          </a:prstGeom>
          <a:solidFill>
            <a:srgbClr val="DAD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581174" y="1000795"/>
            <a:ext cx="1728490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PART A · AUDITLENS AI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496119" y="1281410"/>
            <a:ext cx="499883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Business Value for Cotiviti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496119" y="1936998"/>
            <a:ext cx="4004965" cy="1053182"/>
          </a:xfrm>
          <a:prstGeom prst="roundRect">
            <a:avLst>
              <a:gd fmla="val 5654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"/>
          <p:cNvSpPr/>
          <p:nvPr/>
        </p:nvSpPr>
        <p:spPr>
          <a:xfrm>
            <a:off x="642640" y="2083519"/>
            <a:ext cx="241682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Payment Exposure Visibility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642640" y="2390031"/>
            <a:ext cx="37119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Surface unsupported charges earlier in the payment cycle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4642842" y="1936998"/>
            <a:ext cx="4005039" cy="1053182"/>
          </a:xfrm>
          <a:prstGeom prst="roundRect">
            <a:avLst>
              <a:gd fmla="val 5654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"/>
          <p:cNvSpPr/>
          <p:nvPr/>
        </p:nvSpPr>
        <p:spPr>
          <a:xfrm>
            <a:off x="4789363" y="208351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Reviewer Efficiency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4789363" y="2390031"/>
            <a:ext cx="371199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Faster pre-payment review with reduced manual friction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496119" y="3131939"/>
            <a:ext cx="4004965" cy="1053182"/>
          </a:xfrm>
          <a:prstGeom prst="roundRect">
            <a:avLst>
              <a:gd fmla="val 5654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642640" y="327846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Defensible Citations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642640" y="3584972"/>
            <a:ext cx="37119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Explainable AI audit trails with consistent reviewer decisions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4642842" y="3131939"/>
            <a:ext cx="4005039" cy="1053182"/>
          </a:xfrm>
          <a:prstGeom prst="roundRect">
            <a:avLst>
              <a:gd fmla="val 5654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4789363" y="3278460"/>
            <a:ext cx="282937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Human-in-the-Loop Governance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4789363" y="3584972"/>
            <a:ext cx="371199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Measurable through precision, recall, false alarms, and reviewer acceptance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/>
          <p:nvPr/>
        </p:nvSpPr>
        <p:spPr>
          <a:xfrm>
            <a:off x="496119" y="412775"/>
            <a:ext cx="1699394" cy="228451"/>
          </a:xfrm>
          <a:prstGeom prst="roundRect">
            <a:avLst>
              <a:gd fmla="val 18570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4950BC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"/>
          <p:cNvSpPr/>
          <p:nvPr/>
        </p:nvSpPr>
        <p:spPr>
          <a:xfrm>
            <a:off x="571872" y="450652"/>
            <a:ext cx="2005087" cy="152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50BC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PART B · CLINICAL NLP REPORT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496119" y="686172"/>
            <a:ext cx="8151763" cy="78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Inter"/>
              <a:buNone/>
            </a:pPr>
            <a:r>
              <a:rPr b="1" i="0" lang="en-US" sz="2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Technology Landscape - Clinical NLP in Health Care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971452"/>
            <a:ext cx="2314426" cy="24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1"/>
          <p:cNvSpPr/>
          <p:nvPr/>
        </p:nvSpPr>
        <p:spPr>
          <a:xfrm>
            <a:off x="3123381" y="1756321"/>
            <a:ext cx="2035448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What It 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3123381" y="2066032"/>
            <a:ext cx="5529188" cy="572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Methods for machines to read and interpret unstructured clinical language — notes, discharge summaries, radiology reports, payer policies. Spans OCR, classical NLP, LLMs, and multimodal models.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3123381" y="2765375"/>
            <a:ext cx="5529188" cy="647402"/>
          </a:xfrm>
          <a:prstGeom prst="roundRect">
            <a:avLst>
              <a:gd fmla="val 8191" name="adj"/>
            </a:avLst>
          </a:prstGeom>
          <a:solidFill>
            <a:srgbClr val="DAD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9588" y="2955578"/>
            <a:ext cx="157758" cy="12620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1"/>
          <p:cNvSpPr/>
          <p:nvPr/>
        </p:nvSpPr>
        <p:spPr>
          <a:xfrm>
            <a:off x="3533552" y="2898130"/>
            <a:ext cx="4992812" cy="381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~80%</a:t>
            </a: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of healthcare information is unstructured free text, largely invisible to structured analytics (MarketsandMarkets, 2025).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3123381" y="3539282"/>
            <a:ext cx="2035448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Technology Arc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3123381" y="3848993"/>
            <a:ext cx="5529188" cy="84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Char char="•"/>
            </a:pPr>
            <a:r>
              <a:rPr b="1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Rule-based:</a:t>
            </a:r>
            <a:r>
              <a:rPr b="0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MetaMap, cTAKES - transparent but brittle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Char char="•"/>
            </a:pPr>
            <a:r>
              <a:rPr b="1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Transformers:</a:t>
            </a:r>
            <a:r>
              <a:rPr b="0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BioBERT, ClinicalBERT (2018–2020)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Char char="•"/>
            </a:pPr>
            <a:r>
              <a:rPr b="1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Generative LLMs:</a:t>
            </a:r>
            <a:r>
              <a:rPr b="0" i="0" lang="en-US" sz="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Med-PaLM 2 ~86.5% USMLE accuracy; GPT-4 comparable; Med-Gemini ~91% (Saab et al., 2024)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/>
          <p:nvPr/>
        </p:nvSpPr>
        <p:spPr>
          <a:xfrm>
            <a:off x="496119" y="442466"/>
            <a:ext cx="1401068" cy="177850"/>
          </a:xfrm>
          <a:prstGeom prst="roundRect">
            <a:avLst>
              <a:gd fmla="val 19669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4950BC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558552" y="473646"/>
            <a:ext cx="1733401" cy="115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950BC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PART B · CLINICAL NLP REPORT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496119" y="650825"/>
            <a:ext cx="6897439" cy="325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Market Trends &amp; Opportunity for Payment Integrity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496119" y="1142851"/>
            <a:ext cx="2653531" cy="343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$5.18B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1172170" y="1595735"/>
            <a:ext cx="1301353" cy="16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Market Size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496119" y="1804243"/>
            <a:ext cx="2653531" cy="14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Healthcare NLP market baseline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3245197" y="1142851"/>
            <a:ext cx="2653531" cy="343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$16.01B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3921249" y="1595735"/>
            <a:ext cx="1301353" cy="16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Projected by 2030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3245197" y="1804243"/>
            <a:ext cx="2653531" cy="14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25.3% CAGR (MarketsandMarkets, 2025)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5994276" y="1142851"/>
            <a:ext cx="2653531" cy="343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27%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6656189" y="1595735"/>
            <a:ext cx="1329630" cy="16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Coding Improvement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5994276" y="1804243"/>
            <a:ext cx="2653531" cy="28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Ambience ICD-10 model vs. physician benchmarks (May 2025)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496119" y="2207791"/>
            <a:ext cx="2573610" cy="16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Where Adoption Is Concentrating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112" y="2490304"/>
            <a:ext cx="156121" cy="15612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/>
          <p:nvPr/>
        </p:nvSpPr>
        <p:spPr>
          <a:xfrm>
            <a:off x="834405" y="2485132"/>
            <a:ext cx="7813477" cy="334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Automate labor-intensive record reading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112" y="2977865"/>
            <a:ext cx="156121" cy="15612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2"/>
          <p:cNvSpPr/>
          <p:nvPr/>
        </p:nvSpPr>
        <p:spPr>
          <a:xfrm>
            <a:off x="834405" y="2972693"/>
            <a:ext cx="7813477" cy="14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Surface coding errors and unsupported charges earlier in the payment cycle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112" y="3448162"/>
            <a:ext cx="156121" cy="15612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2"/>
          <p:cNvSpPr/>
          <p:nvPr/>
        </p:nvSpPr>
        <p:spPr>
          <a:xfrm>
            <a:off x="834405" y="3442990"/>
            <a:ext cx="7813477" cy="14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Validate documentation against payer policy at 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112" y="3918458"/>
            <a:ext cx="156121" cy="15612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2"/>
          <p:cNvSpPr/>
          <p:nvPr/>
        </p:nvSpPr>
        <p:spPr>
          <a:xfrm>
            <a:off x="834405" y="3913287"/>
            <a:ext cx="7813477" cy="14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Compress prior-authorization and audit timelines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112" y="4388755"/>
            <a:ext cx="156121" cy="15612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2"/>
          <p:cNvSpPr/>
          <p:nvPr/>
        </p:nvSpPr>
        <p:spPr>
          <a:xfrm>
            <a:off x="834405" y="4383584"/>
            <a:ext cx="7813477" cy="14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RAG-grounded citations turn opaque output into a defensible audit trail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/>
          <p:nvPr/>
        </p:nvSpPr>
        <p:spPr>
          <a:xfrm>
            <a:off x="496119" y="397297"/>
            <a:ext cx="1401068" cy="177850"/>
          </a:xfrm>
          <a:prstGeom prst="roundRect">
            <a:avLst>
              <a:gd fmla="val 19669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4950BC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558552" y="428476"/>
            <a:ext cx="1733401" cy="115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950BC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PART B · CLINICAL NLP REPORT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496119" y="605656"/>
            <a:ext cx="4499744" cy="325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Risks, Regulation &amp; Competition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131615"/>
            <a:ext cx="3528640" cy="352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3"/>
          <p:cNvSpPr/>
          <p:nvPr/>
        </p:nvSpPr>
        <p:spPr>
          <a:xfrm>
            <a:off x="4283422" y="2170063"/>
            <a:ext cx="1758553" cy="16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4283422" y="2409155"/>
            <a:ext cx="4369147" cy="126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2560" lvl="0" marL="16256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Hallucination risk is unacceptable in clinical and audit settings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PHI raises persistent HIPAA exposure concerns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ONC HTI-1 (2024) established first-of-its-kind transparency requirements for predictive decision-support tools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Several states are restricting AI-driven claim denials; compliance strategy must stay adaptable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Optum, EXL, Machinify, Lyric, and AI-native entrants are all advancing LLM-based coding and claims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/>
          <p:nvPr/>
        </p:nvSpPr>
        <p:spPr>
          <a:xfrm>
            <a:off x="496119" y="431974"/>
            <a:ext cx="1789509" cy="244376"/>
          </a:xfrm>
          <a:prstGeom prst="roundRect">
            <a:avLst>
              <a:gd fmla="val 18274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4950BC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575816" y="471785"/>
            <a:ext cx="2087314" cy="164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4950B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PART B · CLINICAL NLP REPORT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496119" y="726132"/>
            <a:ext cx="6640264" cy="4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Strategic Recommendation for Cotiviti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328291"/>
            <a:ext cx="2634183" cy="199876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4"/>
          <p:cNvSpPr/>
          <p:nvPr/>
        </p:nvSpPr>
        <p:spPr>
          <a:xfrm>
            <a:off x="1713533" y="1414983"/>
            <a:ext cx="199355" cy="24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643310" y="1865858"/>
            <a:ext cx="2339801" cy="415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Provenance-First RAG Copilots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643310" y="2355949"/>
            <a:ext cx="2339801" cy="617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Every output cites the source record and payer policy; human reviewer confirms each finding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4871" y="1328291"/>
            <a:ext cx="2634183" cy="199876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4"/>
          <p:cNvSpPr/>
          <p:nvPr/>
        </p:nvSpPr>
        <p:spPr>
          <a:xfrm>
            <a:off x="4472285" y="1414983"/>
            <a:ext cx="199355" cy="24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3402062" y="1865858"/>
            <a:ext cx="2339801" cy="415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Agentic Claims-Review Pipelines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3402062" y="2355949"/>
            <a:ext cx="2339801" cy="8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Decompose claims into checkable steps  eligibility, coding, medical necessity with explicit guardrails and full audit logging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3624" y="1328291"/>
            <a:ext cx="2634183" cy="199876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4"/>
          <p:cNvSpPr/>
          <p:nvPr/>
        </p:nvSpPr>
        <p:spPr>
          <a:xfrm>
            <a:off x="7231038" y="1414983"/>
            <a:ext cx="199355" cy="24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6160815" y="1865858"/>
            <a:ext cx="214900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Multimodal Record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6160815" y="2148260"/>
            <a:ext cx="2339801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Handle scanned and image-based evidence at scale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496119" y="3467174"/>
            <a:ext cx="14288" cy="486221"/>
          </a:xfrm>
          <a:prstGeom prst="roundRect">
            <a:avLst>
              <a:gd fmla="val 59998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"/>
          <p:cNvSpPr/>
          <p:nvPr/>
        </p:nvSpPr>
        <p:spPr>
          <a:xfrm>
            <a:off x="695474" y="3607296"/>
            <a:ext cx="8409608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"The winning position is not the most autonomous system but the most defensible one."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496119" y="4093518"/>
            <a:ext cx="8151763" cy="617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AuditLens AI is the proof-of-concept: a hybrid deterministic-plus-LLM prototype routing each claim through automated billing-rule checks, retrieval-augmented record matching, and LLM-assisted medical-necessity review grounding every judgment in source documents.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/>
          <p:nvPr/>
        </p:nvSpPr>
        <p:spPr>
          <a:xfrm>
            <a:off x="799207" y="1715839"/>
            <a:ext cx="7545512" cy="88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50"/>
              <a:buFont typeface="Inter"/>
              <a:buNone/>
            </a:pPr>
            <a:r>
              <a:rPr b="1" i="0" lang="en-US" sz="5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496119" y="2814489"/>
            <a:ext cx="8151763" cy="613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 appreciate your time and consideration of AuditLens AI.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